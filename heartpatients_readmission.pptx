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
  </p:notesMasterIdLst>
  <p:sldIdLst>
    <p:sldId id="264" r:id="rId2"/>
  </p:sldIdLst>
  <p:sldSz cx="43891200" cy="32918400"/>
  <p:notesSz cx="32461200" cy="434340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1pPr>
    <a:lvl2pPr marL="4572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2pPr>
    <a:lvl3pPr marL="9144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3pPr>
    <a:lvl4pPr marL="13716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4pPr>
    <a:lvl5pPr marL="18288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4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4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4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4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0368">
          <p15:clr>
            <a:srgbClr val="A4A3A4"/>
          </p15:clr>
        </p15:guide>
        <p15:guide id="2" pos="6768" userDrawn="1">
          <p15:clr>
            <a:srgbClr val="A4A3A4"/>
          </p15:clr>
        </p15:guide>
        <p15:guide id="3" pos="20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0000"/>
    <a:srgbClr val="66FFFF"/>
    <a:srgbClr val="333333"/>
    <a:srgbClr val="7BC5CD"/>
    <a:srgbClr val="808080"/>
    <a:srgbClr val="CCCCCC"/>
    <a:srgbClr val="C2E1E1"/>
    <a:srgbClr val="C0DA83"/>
    <a:srgbClr val="009CB1"/>
    <a:srgbClr val="AFD7E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92" autoAdjust="0"/>
    <p:restoredTop sz="93136" autoAdjust="0"/>
  </p:normalViewPr>
  <p:slideViewPr>
    <p:cSldViewPr>
      <p:cViewPr>
        <p:scale>
          <a:sx n="25" d="100"/>
          <a:sy n="25" d="100"/>
        </p:scale>
        <p:origin x="1768" y="176"/>
      </p:cViewPr>
      <p:guideLst>
        <p:guide orient="horz" pos="10368"/>
        <p:guide pos="6768"/>
        <p:guide pos="20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14066520" cy="2171700"/>
          </a:xfrm>
          <a:prstGeom prst="rect">
            <a:avLst/>
          </a:prstGeom>
          <a:noFill/>
          <a:ln w="9525">
            <a:noFill/>
            <a:miter lim="800000"/>
            <a:headEnd/>
            <a:tailEnd/>
          </a:ln>
        </p:spPr>
        <p:txBody>
          <a:bodyPr vert="horz" wrap="square" lIns="433660" tIns="216832" rIns="433660" bIns="216832" numCol="1" anchor="t" anchorCtr="0" compatLnSpc="1">
            <a:prstTxWarp prst="textNoShape">
              <a:avLst/>
            </a:prstTxWarp>
          </a:bodyPr>
          <a:lstStyle>
            <a:lvl1pPr>
              <a:defRPr sz="5800">
                <a:ea typeface="ＭＳ Ｐゴシック" pitchFamily="-109" charset="-128"/>
                <a:cs typeface="+mn-cs"/>
              </a:defRPr>
            </a:lvl1pPr>
          </a:lstStyle>
          <a:p>
            <a:pPr>
              <a:defRPr/>
            </a:pPr>
            <a:endParaRPr lang="en-US"/>
          </a:p>
        </p:txBody>
      </p:sp>
      <p:sp>
        <p:nvSpPr>
          <p:cNvPr id="8195" name="Rectangle 3"/>
          <p:cNvSpPr>
            <a:spLocks noGrp="1" noChangeArrowheads="1"/>
          </p:cNvSpPr>
          <p:nvPr>
            <p:ph type="dt" idx="1"/>
          </p:nvPr>
        </p:nvSpPr>
        <p:spPr bwMode="auto">
          <a:xfrm>
            <a:off x="18394680" y="0"/>
            <a:ext cx="14066520" cy="2171700"/>
          </a:xfrm>
          <a:prstGeom prst="rect">
            <a:avLst/>
          </a:prstGeom>
          <a:noFill/>
          <a:ln w="9525">
            <a:noFill/>
            <a:miter lim="800000"/>
            <a:headEnd/>
            <a:tailEnd/>
          </a:ln>
        </p:spPr>
        <p:txBody>
          <a:bodyPr vert="horz" wrap="square" lIns="433660" tIns="216832" rIns="433660" bIns="216832" numCol="1" anchor="t" anchorCtr="0" compatLnSpc="1">
            <a:prstTxWarp prst="textNoShape">
              <a:avLst/>
            </a:prstTxWarp>
          </a:bodyPr>
          <a:lstStyle>
            <a:lvl1pPr algn="r">
              <a:defRPr sz="5800">
                <a:ea typeface="ＭＳ Ｐゴシック" pitchFamily="-109" charset="-128"/>
                <a:cs typeface="+mn-cs"/>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5373688" y="3260725"/>
            <a:ext cx="21715412" cy="1628775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8197" name="Rectangle 5"/>
          <p:cNvSpPr>
            <a:spLocks noGrp="1" noChangeArrowheads="1"/>
          </p:cNvSpPr>
          <p:nvPr>
            <p:ph type="body" sz="quarter" idx="3"/>
          </p:nvPr>
        </p:nvSpPr>
        <p:spPr bwMode="auto">
          <a:xfrm>
            <a:off x="4328160" y="20631150"/>
            <a:ext cx="23804880" cy="19545300"/>
          </a:xfrm>
          <a:prstGeom prst="rect">
            <a:avLst/>
          </a:prstGeom>
          <a:noFill/>
          <a:ln w="9525">
            <a:noFill/>
            <a:miter lim="800000"/>
            <a:headEnd/>
            <a:tailEnd/>
          </a:ln>
        </p:spPr>
        <p:txBody>
          <a:bodyPr vert="horz" wrap="square" lIns="433660" tIns="216832" rIns="433660" bIns="21683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198" name="Rectangle 6"/>
          <p:cNvSpPr>
            <a:spLocks noGrp="1" noChangeArrowheads="1"/>
          </p:cNvSpPr>
          <p:nvPr>
            <p:ph type="ftr" sz="quarter" idx="4"/>
          </p:nvPr>
        </p:nvSpPr>
        <p:spPr bwMode="auto">
          <a:xfrm>
            <a:off x="0" y="41262300"/>
            <a:ext cx="14066520" cy="2171700"/>
          </a:xfrm>
          <a:prstGeom prst="rect">
            <a:avLst/>
          </a:prstGeom>
          <a:noFill/>
          <a:ln w="9525">
            <a:noFill/>
            <a:miter lim="800000"/>
            <a:headEnd/>
            <a:tailEnd/>
          </a:ln>
        </p:spPr>
        <p:txBody>
          <a:bodyPr vert="horz" wrap="square" lIns="433660" tIns="216832" rIns="433660" bIns="216832" numCol="1" anchor="b" anchorCtr="0" compatLnSpc="1">
            <a:prstTxWarp prst="textNoShape">
              <a:avLst/>
            </a:prstTxWarp>
          </a:bodyPr>
          <a:lstStyle>
            <a:lvl1pPr>
              <a:defRPr sz="5800">
                <a:ea typeface="ＭＳ Ｐゴシック" pitchFamily="-109" charset="-128"/>
                <a:cs typeface="+mn-cs"/>
              </a:defRPr>
            </a:lvl1pPr>
          </a:lstStyle>
          <a:p>
            <a:pPr>
              <a:defRPr/>
            </a:pPr>
            <a:endParaRPr lang="en-US"/>
          </a:p>
        </p:txBody>
      </p:sp>
      <p:sp>
        <p:nvSpPr>
          <p:cNvPr id="8199" name="Rectangle 7"/>
          <p:cNvSpPr>
            <a:spLocks noGrp="1" noChangeArrowheads="1"/>
          </p:cNvSpPr>
          <p:nvPr>
            <p:ph type="sldNum" sz="quarter" idx="5"/>
          </p:nvPr>
        </p:nvSpPr>
        <p:spPr bwMode="auto">
          <a:xfrm>
            <a:off x="18394680" y="41262300"/>
            <a:ext cx="14066520" cy="2171700"/>
          </a:xfrm>
          <a:prstGeom prst="rect">
            <a:avLst/>
          </a:prstGeom>
          <a:noFill/>
          <a:ln w="9525">
            <a:noFill/>
            <a:miter lim="800000"/>
            <a:headEnd/>
            <a:tailEnd/>
          </a:ln>
        </p:spPr>
        <p:txBody>
          <a:bodyPr vert="horz" wrap="square" lIns="433660" tIns="216832" rIns="433660" bIns="216832" numCol="1" anchor="b" anchorCtr="0" compatLnSpc="1">
            <a:prstTxWarp prst="textNoShape">
              <a:avLst/>
            </a:prstTxWarp>
          </a:bodyPr>
          <a:lstStyle>
            <a:lvl1pPr algn="r">
              <a:defRPr sz="5800"/>
            </a:lvl1pPr>
          </a:lstStyle>
          <a:p>
            <a:pPr>
              <a:defRPr/>
            </a:pPr>
            <a:fld id="{DF53CEDA-3E2A-A641-A760-C50CD9A821AF}" type="slidenum">
              <a:rPr lang="en-US"/>
              <a:pPr>
                <a:defRPr/>
              </a:pPr>
              <a:t>‹#›</a:t>
            </a:fld>
            <a:endParaRPr lang="en-US"/>
          </a:p>
        </p:txBody>
      </p:sp>
    </p:spTree>
    <p:extLst>
      <p:ext uri="{BB962C8B-B14F-4D97-AF65-F5344CB8AC3E}">
        <p14:creationId xmlns:p14="http://schemas.microsoft.com/office/powerpoint/2010/main" val="327553088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109"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09" charset="-128"/>
        <a:cs typeface="ＭＳ Ｐゴシック" charset="0"/>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09" charset="-128"/>
        <a:cs typeface="ＭＳ Ｐゴシック" charset="0"/>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09" charset="-128"/>
        <a:cs typeface="ＭＳ Ｐゴシック" charset="0"/>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09" charset="-128"/>
        <a:cs typeface="ＭＳ Ｐゴシック"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p:cNvSpPr>
          <p:nvPr>
            <p:ph type="sldImg"/>
          </p:nvPr>
        </p:nvSpPr>
        <p:spPr>
          <a:ln/>
        </p:spPr>
      </p:sp>
      <p:sp>
        <p:nvSpPr>
          <p:cNvPr id="14338"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dirty="0">
              <a:ea typeface="ＭＳ Ｐゴシック" charset="0"/>
            </a:endParaRPr>
          </a:p>
        </p:txBody>
      </p:sp>
      <p:sp>
        <p:nvSpPr>
          <p:cNvPr id="14339"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11200">
                <a:solidFill>
                  <a:schemeClr val="tx1"/>
                </a:solidFill>
                <a:latin typeface="Arial" charset="0"/>
                <a:ea typeface="ＭＳ Ｐゴシック" charset="0"/>
                <a:cs typeface="ＭＳ Ｐゴシック" charset="0"/>
              </a:defRPr>
            </a:lvl1pPr>
            <a:lvl2pPr marL="3523493" indent="-1355189">
              <a:defRPr sz="11200">
                <a:solidFill>
                  <a:schemeClr val="tx1"/>
                </a:solidFill>
                <a:latin typeface="Arial" charset="0"/>
                <a:ea typeface="ＭＳ Ｐゴシック" charset="0"/>
                <a:cs typeface="ＭＳ Ｐゴシック" charset="0"/>
              </a:defRPr>
            </a:lvl2pPr>
            <a:lvl3pPr marL="5420760" indent="-1084152">
              <a:defRPr sz="11200">
                <a:solidFill>
                  <a:schemeClr val="tx1"/>
                </a:solidFill>
                <a:latin typeface="Arial" charset="0"/>
                <a:ea typeface="ＭＳ Ｐゴシック" charset="0"/>
                <a:cs typeface="ＭＳ Ｐゴシック" charset="0"/>
              </a:defRPr>
            </a:lvl3pPr>
            <a:lvl4pPr marL="7589064" indent="-1084152">
              <a:defRPr sz="11200">
                <a:solidFill>
                  <a:schemeClr val="tx1"/>
                </a:solidFill>
                <a:latin typeface="Arial" charset="0"/>
                <a:ea typeface="ＭＳ Ｐゴシック" charset="0"/>
                <a:cs typeface="ＭＳ Ｐゴシック" charset="0"/>
              </a:defRPr>
            </a:lvl4pPr>
            <a:lvl5pPr marL="9757373" indent="-1084152">
              <a:defRPr sz="11200">
                <a:solidFill>
                  <a:schemeClr val="tx1"/>
                </a:solidFill>
                <a:latin typeface="Arial" charset="0"/>
                <a:ea typeface="ＭＳ Ｐゴシック" charset="0"/>
                <a:cs typeface="ＭＳ Ｐゴシック" charset="0"/>
              </a:defRPr>
            </a:lvl5pPr>
            <a:lvl6pPr marL="11925677" indent="-1084152" eaLnBrk="0" fontAlgn="base" hangingPunct="0">
              <a:spcBef>
                <a:spcPct val="0"/>
              </a:spcBef>
              <a:spcAft>
                <a:spcPct val="0"/>
              </a:spcAft>
              <a:defRPr sz="11200">
                <a:solidFill>
                  <a:schemeClr val="tx1"/>
                </a:solidFill>
                <a:latin typeface="Arial" charset="0"/>
                <a:ea typeface="ＭＳ Ｐゴシック" charset="0"/>
                <a:cs typeface="ＭＳ Ｐゴシック" charset="0"/>
              </a:defRPr>
            </a:lvl6pPr>
            <a:lvl7pPr marL="14093981" indent="-1084152" eaLnBrk="0" fontAlgn="base" hangingPunct="0">
              <a:spcBef>
                <a:spcPct val="0"/>
              </a:spcBef>
              <a:spcAft>
                <a:spcPct val="0"/>
              </a:spcAft>
              <a:defRPr sz="11200">
                <a:solidFill>
                  <a:schemeClr val="tx1"/>
                </a:solidFill>
                <a:latin typeface="Arial" charset="0"/>
                <a:ea typeface="ＭＳ Ｐゴシック" charset="0"/>
                <a:cs typeface="ＭＳ Ｐゴシック" charset="0"/>
              </a:defRPr>
            </a:lvl7pPr>
            <a:lvl8pPr marL="16262285" indent="-1084152" eaLnBrk="0" fontAlgn="base" hangingPunct="0">
              <a:spcBef>
                <a:spcPct val="0"/>
              </a:spcBef>
              <a:spcAft>
                <a:spcPct val="0"/>
              </a:spcAft>
              <a:defRPr sz="11200">
                <a:solidFill>
                  <a:schemeClr val="tx1"/>
                </a:solidFill>
                <a:latin typeface="Arial" charset="0"/>
                <a:ea typeface="ＭＳ Ｐゴシック" charset="0"/>
                <a:cs typeface="ＭＳ Ｐゴシック" charset="0"/>
              </a:defRPr>
            </a:lvl8pPr>
            <a:lvl9pPr marL="18430589" indent="-1084152" eaLnBrk="0" fontAlgn="base" hangingPunct="0">
              <a:spcBef>
                <a:spcPct val="0"/>
              </a:spcBef>
              <a:spcAft>
                <a:spcPct val="0"/>
              </a:spcAft>
              <a:defRPr sz="11200">
                <a:solidFill>
                  <a:schemeClr val="tx1"/>
                </a:solidFill>
                <a:latin typeface="Arial" charset="0"/>
                <a:ea typeface="ＭＳ Ｐゴシック" charset="0"/>
                <a:cs typeface="ＭＳ Ｐゴシック" charset="0"/>
              </a:defRPr>
            </a:lvl9pPr>
          </a:lstStyle>
          <a:p>
            <a:fld id="{1DBCAB6B-A3AE-8443-AED1-0884083409B1}" type="slidenum">
              <a:rPr lang="en-US" sz="5800"/>
              <a:pPr/>
              <a:t>1</a:t>
            </a:fld>
            <a:endParaRPr lang="en-US" sz="58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endParaRPr lang="en-US" dirty="0"/>
          </a:p>
        </p:txBody>
      </p:sp>
    </p:spTree>
    <p:extLst>
      <p:ext uri="{BB962C8B-B14F-4D97-AF65-F5344CB8AC3E}">
        <p14:creationId xmlns:p14="http://schemas.microsoft.com/office/powerpoint/2010/main" val="1003287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061648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33600"/>
            <a:ext cx="38100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33600"/>
            <a:ext cx="38100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7046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907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7255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3153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96769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58681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5644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1143000"/>
            <a:ext cx="1943100" cy="5334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143000"/>
            <a:ext cx="5676900" cy="5334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3171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12" cstate="email">
            <a:extLst>
              <a:ext uri="{28A0092B-C50C-407E-A947-70E740481C1C}">
                <a14:useLocalDpi xmlns:a14="http://schemas.microsoft.com/office/drawing/2010/main" val="0"/>
              </a:ext>
            </a:extLst>
          </a:blip>
          <a:srcRect l="1331" t="86" b="84"/>
          <a:stretch/>
        </p:blipFill>
        <p:spPr>
          <a:xfrm rot="5400000">
            <a:off x="19839840" y="-19839840"/>
            <a:ext cx="4211520" cy="43891200"/>
          </a:xfrm>
          <a:prstGeom prst="rect">
            <a:avLst/>
          </a:prstGeom>
        </p:spPr>
      </p:pic>
      <p:pic>
        <p:nvPicPr>
          <p:cNvPr id="2" name="Picture 1"/>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6728400" y="817375"/>
            <a:ext cx="5838264" cy="262753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4806950" rtl="0" eaLnBrk="0" fontAlgn="base" hangingPunct="0">
        <a:spcBef>
          <a:spcPct val="0"/>
        </a:spcBef>
        <a:spcAft>
          <a:spcPct val="0"/>
        </a:spcAft>
        <a:defRPr sz="3600" b="1">
          <a:solidFill>
            <a:schemeClr val="tx1"/>
          </a:solidFill>
          <a:latin typeface="+mj-lt"/>
          <a:ea typeface="+mj-ea"/>
          <a:cs typeface="ＭＳ Ｐゴシック" charset="0"/>
        </a:defRPr>
      </a:lvl1pPr>
      <a:lvl2pPr algn="l" defTabSz="4806950" rtl="0" eaLnBrk="0" fontAlgn="base" hangingPunct="0">
        <a:spcBef>
          <a:spcPct val="0"/>
        </a:spcBef>
        <a:spcAft>
          <a:spcPct val="0"/>
        </a:spcAft>
        <a:defRPr sz="3600" b="1">
          <a:solidFill>
            <a:schemeClr val="tx1"/>
          </a:solidFill>
          <a:latin typeface="Arial" charset="0"/>
          <a:ea typeface="ＭＳ Ｐゴシック" pitchFamily="-109" charset="-128"/>
          <a:cs typeface="ＭＳ Ｐゴシック" charset="0"/>
        </a:defRPr>
      </a:lvl2pPr>
      <a:lvl3pPr algn="l" defTabSz="4806950" rtl="0" eaLnBrk="0" fontAlgn="base" hangingPunct="0">
        <a:spcBef>
          <a:spcPct val="0"/>
        </a:spcBef>
        <a:spcAft>
          <a:spcPct val="0"/>
        </a:spcAft>
        <a:defRPr sz="3600" b="1">
          <a:solidFill>
            <a:schemeClr val="tx1"/>
          </a:solidFill>
          <a:latin typeface="Arial" charset="0"/>
          <a:ea typeface="ＭＳ Ｐゴシック" pitchFamily="-109" charset="-128"/>
          <a:cs typeface="ＭＳ Ｐゴシック" charset="0"/>
        </a:defRPr>
      </a:lvl3pPr>
      <a:lvl4pPr algn="l" defTabSz="4806950" rtl="0" eaLnBrk="0" fontAlgn="base" hangingPunct="0">
        <a:spcBef>
          <a:spcPct val="0"/>
        </a:spcBef>
        <a:spcAft>
          <a:spcPct val="0"/>
        </a:spcAft>
        <a:defRPr sz="3600" b="1">
          <a:solidFill>
            <a:schemeClr val="tx1"/>
          </a:solidFill>
          <a:latin typeface="Arial" charset="0"/>
          <a:ea typeface="ＭＳ Ｐゴシック" pitchFamily="-109" charset="-128"/>
          <a:cs typeface="ＭＳ Ｐゴシック" charset="0"/>
        </a:defRPr>
      </a:lvl4pPr>
      <a:lvl5pPr algn="l" defTabSz="4806950" rtl="0" eaLnBrk="0" fontAlgn="base" hangingPunct="0">
        <a:spcBef>
          <a:spcPct val="0"/>
        </a:spcBef>
        <a:spcAft>
          <a:spcPct val="0"/>
        </a:spcAft>
        <a:defRPr sz="3600" b="1">
          <a:solidFill>
            <a:schemeClr val="tx1"/>
          </a:solidFill>
          <a:latin typeface="Arial" charset="0"/>
          <a:ea typeface="ＭＳ Ｐゴシック" pitchFamily="-109" charset="-128"/>
          <a:cs typeface="ＭＳ Ｐゴシック" charset="0"/>
        </a:defRPr>
      </a:lvl5pPr>
      <a:lvl6pPr marL="457200" algn="l" rtl="0" fontAlgn="base">
        <a:spcBef>
          <a:spcPct val="0"/>
        </a:spcBef>
        <a:spcAft>
          <a:spcPct val="0"/>
        </a:spcAft>
        <a:defRPr sz="3200" b="1">
          <a:solidFill>
            <a:schemeClr val="tx2"/>
          </a:solidFill>
          <a:latin typeface="Arial" charset="0"/>
          <a:ea typeface="ＭＳ Ｐゴシック" pitchFamily="-109" charset="-128"/>
        </a:defRPr>
      </a:lvl6pPr>
      <a:lvl7pPr marL="914400" algn="l" rtl="0" fontAlgn="base">
        <a:spcBef>
          <a:spcPct val="0"/>
        </a:spcBef>
        <a:spcAft>
          <a:spcPct val="0"/>
        </a:spcAft>
        <a:defRPr sz="3200" b="1">
          <a:solidFill>
            <a:schemeClr val="tx2"/>
          </a:solidFill>
          <a:latin typeface="Arial" charset="0"/>
          <a:ea typeface="ＭＳ Ｐゴシック" pitchFamily="-109" charset="-128"/>
        </a:defRPr>
      </a:lvl7pPr>
      <a:lvl8pPr marL="1371600" algn="l" rtl="0" fontAlgn="base">
        <a:spcBef>
          <a:spcPct val="0"/>
        </a:spcBef>
        <a:spcAft>
          <a:spcPct val="0"/>
        </a:spcAft>
        <a:defRPr sz="3200" b="1">
          <a:solidFill>
            <a:schemeClr val="tx2"/>
          </a:solidFill>
          <a:latin typeface="Arial" charset="0"/>
          <a:ea typeface="ＭＳ Ｐゴシック" pitchFamily="-109" charset="-128"/>
        </a:defRPr>
      </a:lvl8pPr>
      <a:lvl9pPr marL="1828800" algn="l" rtl="0" fontAlgn="base">
        <a:spcBef>
          <a:spcPct val="0"/>
        </a:spcBef>
        <a:spcAft>
          <a:spcPct val="0"/>
        </a:spcAft>
        <a:defRPr sz="3200" b="1">
          <a:solidFill>
            <a:schemeClr val="tx2"/>
          </a:solidFill>
          <a:latin typeface="Arial" charset="0"/>
          <a:ea typeface="ＭＳ Ｐゴシック" pitchFamily="-109" charset="-128"/>
        </a:defRPr>
      </a:lvl9pPr>
    </p:titleStyle>
    <p:bodyStyle>
      <a:lvl1pPr marL="342900" indent="-342900" algn="l" defTabSz="4806950" rtl="0" eaLnBrk="0" fontAlgn="base" hangingPunct="0">
        <a:spcBef>
          <a:spcPct val="20000"/>
        </a:spcBef>
        <a:spcAft>
          <a:spcPct val="0"/>
        </a:spcAft>
        <a:defRPr sz="2400">
          <a:solidFill>
            <a:schemeClr val="tx1"/>
          </a:solidFill>
          <a:latin typeface="+mn-lt"/>
          <a:ea typeface="+mn-ea"/>
          <a:cs typeface="ＭＳ Ｐゴシック" charset="0"/>
        </a:defRPr>
      </a:lvl1pPr>
      <a:lvl2pPr marL="3905250" indent="-1501775" algn="l" defTabSz="4806950" rtl="0" eaLnBrk="0" fontAlgn="base" hangingPunct="0">
        <a:spcBef>
          <a:spcPct val="20000"/>
        </a:spcBef>
        <a:spcAft>
          <a:spcPct val="0"/>
        </a:spcAft>
        <a:defRPr sz="2400">
          <a:solidFill>
            <a:schemeClr val="tx1"/>
          </a:solidFill>
          <a:latin typeface="+mn-lt"/>
          <a:ea typeface="+mn-ea"/>
          <a:cs typeface="ＭＳ Ｐゴシック" charset="0"/>
        </a:defRPr>
      </a:lvl2pPr>
      <a:lvl3pPr marL="6008688" indent="-1201738" algn="l" defTabSz="4806950" rtl="0" eaLnBrk="0" fontAlgn="base" hangingPunct="0">
        <a:spcBef>
          <a:spcPct val="20000"/>
        </a:spcBef>
        <a:spcAft>
          <a:spcPct val="0"/>
        </a:spcAft>
        <a:defRPr sz="2400">
          <a:solidFill>
            <a:schemeClr val="tx1"/>
          </a:solidFill>
          <a:latin typeface="+mn-lt"/>
          <a:ea typeface="+mn-ea"/>
          <a:cs typeface="ＭＳ Ｐゴシック" charset="0"/>
        </a:defRPr>
      </a:lvl3pPr>
      <a:lvl4pPr marL="8412163" indent="-1201738" algn="l" defTabSz="4806950" rtl="0" eaLnBrk="0" fontAlgn="base" hangingPunct="0">
        <a:spcBef>
          <a:spcPct val="20000"/>
        </a:spcBef>
        <a:spcAft>
          <a:spcPct val="0"/>
        </a:spcAft>
        <a:defRPr sz="2400">
          <a:solidFill>
            <a:schemeClr val="tx1"/>
          </a:solidFill>
          <a:latin typeface="+mn-lt"/>
          <a:ea typeface="+mn-ea"/>
          <a:cs typeface="ＭＳ Ｐゴシック" charset="0"/>
        </a:defRPr>
      </a:lvl4pPr>
      <a:lvl5pPr marL="10815638" indent="-1201738" algn="l" defTabSz="4806950" rtl="0" eaLnBrk="0" fontAlgn="base" hangingPunct="0">
        <a:spcBef>
          <a:spcPct val="20000"/>
        </a:spcBef>
        <a:spcAft>
          <a:spcPct val="0"/>
        </a:spcAft>
        <a:defRPr sz="2400">
          <a:solidFill>
            <a:schemeClr val="tx1"/>
          </a:solidFill>
          <a:latin typeface="+mn-lt"/>
          <a:ea typeface="+mn-ea"/>
          <a:cs typeface="ＭＳ Ｐゴシック" charset="0"/>
        </a:defRPr>
      </a:lvl5pPr>
      <a:lvl6pPr marL="2514600" indent="-228600" algn="l" rtl="0" fontAlgn="base">
        <a:spcBef>
          <a:spcPct val="20000"/>
        </a:spcBef>
        <a:spcAft>
          <a:spcPct val="0"/>
        </a:spcAft>
        <a:defRPr sz="2000">
          <a:solidFill>
            <a:schemeClr val="tx1"/>
          </a:solidFill>
          <a:latin typeface="+mn-lt"/>
          <a:ea typeface="+mn-ea"/>
        </a:defRPr>
      </a:lvl6pPr>
      <a:lvl7pPr marL="2971800" indent="-228600" algn="l" rtl="0" fontAlgn="base">
        <a:spcBef>
          <a:spcPct val="20000"/>
        </a:spcBef>
        <a:spcAft>
          <a:spcPct val="0"/>
        </a:spcAft>
        <a:defRPr sz="2000">
          <a:solidFill>
            <a:schemeClr val="tx1"/>
          </a:solidFill>
          <a:latin typeface="+mn-lt"/>
          <a:ea typeface="+mn-ea"/>
        </a:defRPr>
      </a:lvl7pPr>
      <a:lvl8pPr marL="3429000" indent="-228600" algn="l" rtl="0" fontAlgn="base">
        <a:spcBef>
          <a:spcPct val="20000"/>
        </a:spcBef>
        <a:spcAft>
          <a:spcPct val="0"/>
        </a:spcAft>
        <a:defRPr sz="2000">
          <a:solidFill>
            <a:schemeClr val="tx1"/>
          </a:solidFill>
          <a:latin typeface="+mn-lt"/>
          <a:ea typeface="+mn-ea"/>
        </a:defRPr>
      </a:lvl8pPr>
      <a:lvl9pPr marL="3886200" indent="-228600" algn="l" rtl="0" fontAlgn="base">
        <a:spcBef>
          <a:spcPct val="20000"/>
        </a:spcBef>
        <a:spcAft>
          <a:spcPct val="0"/>
        </a:spcAft>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group of people looking at a heart&#10;&#10;AI-generated content may be incorrect.">
            <a:extLst>
              <a:ext uri="{FF2B5EF4-FFF2-40B4-BE49-F238E27FC236}">
                <a16:creationId xmlns:a16="http://schemas.microsoft.com/office/drawing/2014/main" id="{0B119D8C-89B7-7884-DE43-C5FC2E90285B}"/>
              </a:ext>
            </a:extLst>
          </p:cNvPr>
          <p:cNvPicPr>
            <a:picLocks noChangeAspect="1"/>
          </p:cNvPicPr>
          <p:nvPr/>
        </p:nvPicPr>
        <p:blipFill>
          <a:blip r:embed="rId3">
            <a:alphaModFix amt="8000"/>
          </a:blip>
          <a:stretch>
            <a:fillRect/>
          </a:stretch>
        </p:blipFill>
        <p:spPr>
          <a:xfrm>
            <a:off x="0" y="4258985"/>
            <a:ext cx="43891200" cy="28988186"/>
          </a:xfrm>
          <a:prstGeom prst="rect">
            <a:avLst/>
          </a:prstGeom>
          <a:effectLst>
            <a:outerShdw blurRad="50800" dist="50800" dir="5400000" algn="ctr" rotWithShape="0">
              <a:srgbClr val="000000">
                <a:alpha val="0"/>
              </a:srgbClr>
            </a:outerShdw>
          </a:effectLst>
        </p:spPr>
      </p:pic>
      <p:sp>
        <p:nvSpPr>
          <p:cNvPr id="3" name="TextBox 2">
            <a:extLst>
              <a:ext uri="{FF2B5EF4-FFF2-40B4-BE49-F238E27FC236}">
                <a16:creationId xmlns:a16="http://schemas.microsoft.com/office/drawing/2014/main" id="{0C829625-861A-8973-0D42-5DC45FD0AEF2}"/>
              </a:ext>
            </a:extLst>
          </p:cNvPr>
          <p:cNvSpPr txBox="1"/>
          <p:nvPr/>
        </p:nvSpPr>
        <p:spPr>
          <a:xfrm>
            <a:off x="3657600" y="381000"/>
            <a:ext cx="36576000" cy="3877985"/>
          </a:xfrm>
          <a:prstGeom prst="rect">
            <a:avLst/>
          </a:prstGeom>
          <a:noFill/>
        </p:spPr>
        <p:txBody>
          <a:bodyPr wrap="square" rtlCol="0">
            <a:spAutoFit/>
          </a:bodyPr>
          <a:lstStyle/>
          <a:p>
            <a:pPr algn="ctr"/>
            <a:r>
              <a:rPr lang="en-US" sz="9600" b="1" dirty="0">
                <a:solidFill>
                  <a:schemeClr val="bg1"/>
                </a:solidFill>
                <a:latin typeface="Times New Roman" panose="02020603050405020304" pitchFamily="18" charset="0"/>
                <a:cs typeface="Times New Roman" panose="02020603050405020304" pitchFamily="18" charset="0"/>
              </a:rPr>
              <a:t>Predictive Analysis of Readmission Risk of Heart Patients</a:t>
            </a:r>
          </a:p>
          <a:p>
            <a:pPr algn="ctr"/>
            <a:r>
              <a:rPr lang="en-US" sz="7500" b="0" i="0" dirty="0">
                <a:solidFill>
                  <a:schemeClr val="bg1"/>
                </a:solidFill>
                <a:effectLst/>
                <a:latin typeface="Times New Roman" panose="02020603050405020304" pitchFamily="18" charset="0"/>
                <a:cs typeface="Times New Roman" panose="02020603050405020304" pitchFamily="18" charset="0"/>
              </a:rPr>
              <a:t>Dr. Muhammad Adib Uz Zaman, PhD; Sahith Aitha</a:t>
            </a:r>
          </a:p>
          <a:p>
            <a:pPr algn="ctr"/>
            <a:r>
              <a:rPr lang="en-US" sz="6600" dirty="0">
                <a:solidFill>
                  <a:schemeClr val="bg1"/>
                </a:solidFill>
                <a:latin typeface="Times New Roman" panose="02020603050405020304" pitchFamily="18" charset="0"/>
                <a:cs typeface="Times New Roman" panose="02020603050405020304" pitchFamily="18" charset="0"/>
              </a:rPr>
              <a:t>Cincinnati, OH</a:t>
            </a:r>
            <a:endParaRPr lang="en-US" sz="7500"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70C43B3-94CE-BA35-29E7-820BB351AA8E}"/>
              </a:ext>
            </a:extLst>
          </p:cNvPr>
          <p:cNvSpPr txBox="1"/>
          <p:nvPr/>
        </p:nvSpPr>
        <p:spPr>
          <a:xfrm>
            <a:off x="1344930" y="4648200"/>
            <a:ext cx="13487400" cy="6186309"/>
          </a:xfrm>
          <a:prstGeom prst="rect">
            <a:avLst/>
          </a:prstGeom>
          <a:noFill/>
          <a:ln>
            <a:noFill/>
          </a:ln>
        </p:spPr>
        <p:txBody>
          <a:bodyPr wrap="square" rtlCol="0">
            <a:spAutoFit/>
          </a:bodyPr>
          <a:lstStyle/>
          <a:p>
            <a:pPr algn="just"/>
            <a:r>
              <a:rPr lang="en-US" sz="6000" b="1" dirty="0">
                <a:solidFill>
                  <a:srgbClr val="D30000"/>
                </a:solidFill>
                <a:latin typeface="Times New Roman" panose="02020603050405020304" pitchFamily="18" charset="0"/>
                <a:cs typeface="Times New Roman" panose="02020603050405020304" pitchFamily="18" charset="0"/>
              </a:rPr>
              <a:t>Problem Statement:</a:t>
            </a:r>
          </a:p>
          <a:p>
            <a:pPr algn="just"/>
            <a:r>
              <a:rPr lang="en-US" sz="4800" dirty="0">
                <a:latin typeface="Times New Roman" panose="02020603050405020304" pitchFamily="18" charset="0"/>
                <a:cs typeface="Times New Roman" panose="02020603050405020304" pitchFamily="18" charset="0"/>
              </a:rPr>
              <a:t>The goal of our research is to assess the factors influencing the readmission risk of heart failure patients within 28 days by employing machine learning and deep learning models. The main objective is to develop a predictive model that estimates the likelihood of patients’ readmission within 28 days of discharge post treatment.  </a:t>
            </a:r>
          </a:p>
        </p:txBody>
      </p:sp>
      <p:sp>
        <p:nvSpPr>
          <p:cNvPr id="6" name="TextBox 5">
            <a:extLst>
              <a:ext uri="{FF2B5EF4-FFF2-40B4-BE49-F238E27FC236}">
                <a16:creationId xmlns:a16="http://schemas.microsoft.com/office/drawing/2014/main" id="{3F739B9F-547C-C4B6-E636-3A5C39950763}"/>
              </a:ext>
            </a:extLst>
          </p:cNvPr>
          <p:cNvSpPr txBox="1"/>
          <p:nvPr/>
        </p:nvSpPr>
        <p:spPr>
          <a:xfrm>
            <a:off x="1308947" y="10834509"/>
            <a:ext cx="13487400" cy="12095619"/>
          </a:xfrm>
          <a:prstGeom prst="rect">
            <a:avLst/>
          </a:prstGeom>
          <a:noFill/>
          <a:ln>
            <a:noFill/>
          </a:ln>
        </p:spPr>
        <p:txBody>
          <a:bodyPr wrap="square" rtlCol="0">
            <a:spAutoFit/>
          </a:bodyPr>
          <a:lstStyle/>
          <a:p>
            <a:pPr algn="just"/>
            <a:r>
              <a:rPr lang="en-US" sz="6000" b="1" dirty="0">
                <a:solidFill>
                  <a:srgbClr val="D30000"/>
                </a:solidFill>
                <a:latin typeface="Times New Roman" panose="02020603050405020304" pitchFamily="18" charset="0"/>
                <a:cs typeface="Times New Roman" panose="02020603050405020304" pitchFamily="18" charset="0"/>
              </a:rPr>
              <a:t>Introduction:</a:t>
            </a:r>
            <a:endParaRPr lang="en-US" sz="5400" b="1" dirty="0">
              <a:solidFill>
                <a:srgbClr val="D30000"/>
              </a:solidFill>
              <a:latin typeface="Times New Roman" panose="02020603050405020304" pitchFamily="18" charset="0"/>
              <a:cs typeface="Times New Roman" panose="02020603050405020304" pitchFamily="18" charset="0"/>
            </a:endParaRPr>
          </a:p>
          <a:p>
            <a:pPr algn="just"/>
            <a:r>
              <a:rPr lang="en-US" sz="4800" dirty="0">
                <a:latin typeface="Times New Roman" panose="02020603050405020304" pitchFamily="18" charset="0"/>
                <a:cs typeface="Times New Roman" panose="02020603050405020304" pitchFamily="18" charset="0"/>
              </a:rPr>
              <a:t>Heart failure is a one of the common reasons for hospital stays, costing the US healthcare system over $30 billion each year. Each one out of five patients (126,059, or 20.2%) returned to the hospital within a month of leaving, typically around 12 days after their initial discharge from the hospital[1]. A significant burden is being posed on healthcare systems due to the hospital readmissions within 28 days. Predicting readmission risk can promote efficient patient management, and cost reduction. There is a huge advancement of technology especially in Artificial Intelligence and Machine learning. Applying these to process Clinical data - Electronic Health Records(EMR), would create a significant impact in health industry and enables pro-active patient care[2]. </a:t>
            </a:r>
          </a:p>
        </p:txBody>
      </p:sp>
      <p:sp>
        <p:nvSpPr>
          <p:cNvPr id="7" name="TextBox 6">
            <a:extLst>
              <a:ext uri="{FF2B5EF4-FFF2-40B4-BE49-F238E27FC236}">
                <a16:creationId xmlns:a16="http://schemas.microsoft.com/office/drawing/2014/main" id="{017E23E7-9CAB-D46A-DE31-7BB59867075E}"/>
              </a:ext>
            </a:extLst>
          </p:cNvPr>
          <p:cNvSpPr txBox="1"/>
          <p:nvPr/>
        </p:nvSpPr>
        <p:spPr>
          <a:xfrm>
            <a:off x="28087320" y="20079048"/>
            <a:ext cx="14478000" cy="10802957"/>
          </a:xfrm>
          <a:prstGeom prst="rect">
            <a:avLst/>
          </a:prstGeom>
          <a:noFill/>
          <a:ln>
            <a:noFill/>
          </a:ln>
        </p:spPr>
        <p:txBody>
          <a:bodyPr wrap="square" rtlCol="0">
            <a:spAutoFit/>
          </a:bodyPr>
          <a:lstStyle/>
          <a:p>
            <a:pPr algn="just"/>
            <a:r>
              <a:rPr lang="en-US" sz="6000" b="1" dirty="0">
                <a:solidFill>
                  <a:srgbClr val="D30000"/>
                </a:solidFill>
                <a:latin typeface="Times New Roman" panose="02020603050405020304" pitchFamily="18" charset="0"/>
                <a:cs typeface="Times New Roman" panose="02020603050405020304" pitchFamily="18" charset="0"/>
              </a:rPr>
              <a:t>References:</a:t>
            </a:r>
            <a:endParaRPr lang="en-US" sz="5400" b="1" dirty="0">
              <a:solidFill>
                <a:srgbClr val="D30000"/>
              </a:solidFill>
              <a:latin typeface="Times New Roman" panose="02020603050405020304" pitchFamily="18" charset="0"/>
              <a:cs typeface="Times New Roman" panose="02020603050405020304" pitchFamily="18" charset="0"/>
            </a:endParaRPr>
          </a:p>
          <a:p>
            <a:pPr marL="742950" indent="-742950" algn="just">
              <a:spcAft>
                <a:spcPts val="1200"/>
              </a:spcAft>
              <a:buFont typeface="+mj-lt"/>
              <a:buAutoNum type="arabicPeriod"/>
            </a:pPr>
            <a:r>
              <a:rPr lang="en-US" sz="4400" b="0" i="0" dirty="0">
                <a:effectLst/>
                <a:latin typeface="Times New Roman" panose="02020603050405020304" pitchFamily="18" charset="0"/>
                <a:cs typeface="Times New Roman" panose="02020603050405020304" pitchFamily="18" charset="0"/>
              </a:rPr>
              <a:t>Readmissions in Heart Failure: It’s More Than Just the Medicine Reddy, Yogesh N.V. et al. Mayo Clinic Proceedings, Volume 94, Issue 10, 1919 – 1921</a:t>
            </a:r>
          </a:p>
          <a:p>
            <a:pPr marL="742950" indent="-742950" algn="just">
              <a:spcAft>
                <a:spcPts val="1200"/>
              </a:spcAft>
              <a:buFont typeface="+mj-lt"/>
              <a:buAutoNum type="arabicPeriod"/>
            </a:pPr>
            <a:r>
              <a:rPr lang="en-US" sz="4400" b="0" i="0" dirty="0" err="1">
                <a:effectLst/>
                <a:latin typeface="Times New Roman" panose="02020603050405020304" pitchFamily="18" charset="0"/>
                <a:cs typeface="Times New Roman" panose="02020603050405020304" pitchFamily="18" charset="0"/>
              </a:rPr>
              <a:t>Golas</a:t>
            </a:r>
            <a:r>
              <a:rPr lang="en-US" sz="4400" b="0" i="0" dirty="0">
                <a:effectLst/>
                <a:latin typeface="Times New Roman" panose="02020603050405020304" pitchFamily="18" charset="0"/>
                <a:cs typeface="Times New Roman" panose="02020603050405020304" pitchFamily="18" charset="0"/>
              </a:rPr>
              <a:t>, S.B., Shibahara, T., Agboola, S. </a:t>
            </a:r>
            <a:r>
              <a:rPr lang="en-US" sz="4400" b="0" i="1" dirty="0">
                <a:effectLst/>
                <a:latin typeface="Times New Roman" panose="02020603050405020304" pitchFamily="18" charset="0"/>
                <a:cs typeface="Times New Roman" panose="02020603050405020304" pitchFamily="18" charset="0"/>
              </a:rPr>
              <a:t>et al.</a:t>
            </a:r>
            <a:r>
              <a:rPr lang="en-US" sz="4400" b="0" i="0" dirty="0">
                <a:effectLst/>
                <a:latin typeface="Times New Roman" panose="02020603050405020304" pitchFamily="18" charset="0"/>
                <a:cs typeface="Times New Roman" panose="02020603050405020304" pitchFamily="18" charset="0"/>
              </a:rPr>
              <a:t> A machine learning model to predict the risk of 30-day readmissions in patients with heart failure: a retrospective analysis of electronic medical records data. </a:t>
            </a:r>
            <a:r>
              <a:rPr lang="en-US" sz="4400" b="0" i="1" dirty="0">
                <a:effectLst/>
                <a:latin typeface="Times New Roman" panose="02020603050405020304" pitchFamily="18" charset="0"/>
                <a:cs typeface="Times New Roman" panose="02020603050405020304" pitchFamily="18" charset="0"/>
              </a:rPr>
              <a:t>BMC Med Inform </a:t>
            </a:r>
            <a:r>
              <a:rPr lang="en-US" sz="4400" b="0" i="1" dirty="0" err="1">
                <a:effectLst/>
                <a:latin typeface="Times New Roman" panose="02020603050405020304" pitchFamily="18" charset="0"/>
                <a:cs typeface="Times New Roman" panose="02020603050405020304" pitchFamily="18" charset="0"/>
              </a:rPr>
              <a:t>Decis</a:t>
            </a:r>
            <a:r>
              <a:rPr lang="en-US" sz="4400" b="0" i="1" dirty="0">
                <a:effectLst/>
                <a:latin typeface="Times New Roman" panose="02020603050405020304" pitchFamily="18" charset="0"/>
                <a:cs typeface="Times New Roman" panose="02020603050405020304" pitchFamily="18" charset="0"/>
              </a:rPr>
              <a:t> Mak</a:t>
            </a:r>
            <a:r>
              <a:rPr lang="en-US" sz="4400" b="0" i="0" dirty="0">
                <a:effectLst/>
                <a:latin typeface="Times New Roman" panose="02020603050405020304" pitchFamily="18" charset="0"/>
                <a:cs typeface="Times New Roman" panose="02020603050405020304" pitchFamily="18" charset="0"/>
              </a:rPr>
              <a:t> </a:t>
            </a:r>
            <a:r>
              <a:rPr lang="en-US" sz="4400" i="0" dirty="0">
                <a:effectLst/>
                <a:latin typeface="Times New Roman" panose="02020603050405020304" pitchFamily="18" charset="0"/>
                <a:cs typeface="Times New Roman" panose="02020603050405020304" pitchFamily="18" charset="0"/>
              </a:rPr>
              <a:t>18</a:t>
            </a:r>
            <a:r>
              <a:rPr lang="en-US" sz="4400" b="0" i="0" dirty="0">
                <a:effectLst/>
                <a:latin typeface="Times New Roman" panose="02020603050405020304" pitchFamily="18" charset="0"/>
                <a:cs typeface="Times New Roman" panose="02020603050405020304" pitchFamily="18" charset="0"/>
              </a:rPr>
              <a:t>, 44 (2018). https://</a:t>
            </a:r>
            <a:r>
              <a:rPr lang="en-US" sz="4400" b="0" i="0" dirty="0" err="1">
                <a:effectLst/>
                <a:latin typeface="Times New Roman" panose="02020603050405020304" pitchFamily="18" charset="0"/>
                <a:cs typeface="Times New Roman" panose="02020603050405020304" pitchFamily="18" charset="0"/>
              </a:rPr>
              <a:t>doi.org</a:t>
            </a:r>
            <a:r>
              <a:rPr lang="en-US" sz="4400" b="0" i="0" dirty="0">
                <a:effectLst/>
                <a:latin typeface="Times New Roman" panose="02020603050405020304" pitchFamily="18" charset="0"/>
                <a:cs typeface="Times New Roman" panose="02020603050405020304" pitchFamily="18" charset="0"/>
              </a:rPr>
              <a:t>/10.1186/s12911-018-0620-z</a:t>
            </a:r>
          </a:p>
          <a:p>
            <a:pPr marL="742950" indent="-742950" algn="just">
              <a:spcAft>
                <a:spcPts val="1200"/>
              </a:spcAft>
              <a:buFont typeface="+mj-lt"/>
              <a:buAutoNum type="arabicPeriod"/>
            </a:pPr>
            <a:r>
              <a:rPr lang="en-US" sz="4400" b="0" i="0" dirty="0">
                <a:effectLst/>
                <a:latin typeface="Times New Roman" panose="02020603050405020304" pitchFamily="18" charset="0"/>
                <a:cs typeface="Times New Roman" panose="02020603050405020304" pitchFamily="18" charset="0"/>
              </a:rPr>
              <a:t>Zhang Z, Cao L, Chen R, Zhao Y, </a:t>
            </a:r>
            <a:r>
              <a:rPr lang="en-US" sz="4400" b="0" i="0" dirty="0" err="1">
                <a:effectLst/>
                <a:latin typeface="Times New Roman" panose="02020603050405020304" pitchFamily="18" charset="0"/>
                <a:cs typeface="Times New Roman" panose="02020603050405020304" pitchFamily="18" charset="0"/>
              </a:rPr>
              <a:t>Lv</a:t>
            </a:r>
            <a:r>
              <a:rPr lang="en-US" sz="4400" b="0" i="0" dirty="0">
                <a:effectLst/>
                <a:latin typeface="Times New Roman" panose="02020603050405020304" pitchFamily="18" charset="0"/>
                <a:cs typeface="Times New Roman" panose="02020603050405020304" pitchFamily="18" charset="0"/>
              </a:rPr>
              <a:t> L, Xu Z, Xu P. Electronic healthcare records and external outcome data for hospitalized patients with heart failure. Sci Data. 2021 Feb 5;8(1):46. </a:t>
            </a:r>
            <a:r>
              <a:rPr lang="en-US" sz="4400" b="0" i="0" dirty="0" err="1">
                <a:effectLst/>
                <a:latin typeface="Times New Roman" panose="02020603050405020304" pitchFamily="18" charset="0"/>
                <a:cs typeface="Times New Roman" panose="02020603050405020304" pitchFamily="18" charset="0"/>
              </a:rPr>
              <a:t>doi</a:t>
            </a:r>
            <a:r>
              <a:rPr lang="en-US" sz="4400" b="0" i="0" dirty="0">
                <a:effectLst/>
                <a:latin typeface="Times New Roman" panose="02020603050405020304" pitchFamily="18" charset="0"/>
                <a:cs typeface="Times New Roman" panose="02020603050405020304" pitchFamily="18" charset="0"/>
              </a:rPr>
              <a:t>: 10.1038/s41597-021-00835-9. PMID: 33547290; PMCID: PMC7865067.</a:t>
            </a:r>
          </a:p>
        </p:txBody>
      </p:sp>
      <p:sp>
        <p:nvSpPr>
          <p:cNvPr id="8" name="TextBox 7">
            <a:extLst>
              <a:ext uri="{FF2B5EF4-FFF2-40B4-BE49-F238E27FC236}">
                <a16:creationId xmlns:a16="http://schemas.microsoft.com/office/drawing/2014/main" id="{8D19B01D-1A2E-D047-F089-C9FACA877B1D}"/>
              </a:ext>
            </a:extLst>
          </p:cNvPr>
          <p:cNvSpPr txBox="1"/>
          <p:nvPr/>
        </p:nvSpPr>
        <p:spPr>
          <a:xfrm>
            <a:off x="1325880" y="23218369"/>
            <a:ext cx="25374600" cy="7663636"/>
          </a:xfrm>
          <a:prstGeom prst="rect">
            <a:avLst/>
          </a:prstGeom>
          <a:noFill/>
          <a:ln>
            <a:noFill/>
          </a:ln>
        </p:spPr>
        <p:txBody>
          <a:bodyPr wrap="square" rtlCol="0">
            <a:spAutoFit/>
          </a:bodyPr>
          <a:lstStyle/>
          <a:p>
            <a:pPr algn="just"/>
            <a:r>
              <a:rPr lang="en-US" sz="6000" b="1" dirty="0">
                <a:solidFill>
                  <a:srgbClr val="D30000"/>
                </a:solidFill>
                <a:latin typeface="Times New Roman" panose="02020603050405020304" pitchFamily="18" charset="0"/>
                <a:cs typeface="Times New Roman" panose="02020603050405020304" pitchFamily="18" charset="0"/>
              </a:rPr>
              <a:t>Data Sources and Methodology:</a:t>
            </a:r>
          </a:p>
          <a:p>
            <a:pPr algn="just"/>
            <a:r>
              <a:rPr lang="en-US" sz="4800" dirty="0">
                <a:latin typeface="Times New Roman" panose="02020603050405020304" pitchFamily="18" charset="0"/>
                <a:cs typeface="Times New Roman" panose="02020603050405020304" pitchFamily="18" charset="0"/>
              </a:rPr>
              <a:t>We are using a dataset[3] which comprises EMRs of 2,008 heart failure patients, admitted to a Chinese hospital between the years 2016 and 2019. This dataset includes data related to demographics, clinical characteristics, lab results, and medications. It enables us with the development of predictive models for readmission risk and thus potentially improving patient care and resource allocation. Due to the presence of complex features in the dataset, especially the factors affecting the readmission of heart patients, deep learning models would be more suitable for this analysis to be efficient and accurate for analysis. The deployment considerations for this model include potential real-time integration with hospital information systems. This study can also be enhanced by developing an explainable AI (XAI), to improve clinical trust and usability in real-world.</a:t>
            </a:r>
          </a:p>
        </p:txBody>
      </p:sp>
      <p:sp>
        <p:nvSpPr>
          <p:cNvPr id="11" name="TextBox 10">
            <a:extLst>
              <a:ext uri="{FF2B5EF4-FFF2-40B4-BE49-F238E27FC236}">
                <a16:creationId xmlns:a16="http://schemas.microsoft.com/office/drawing/2014/main" id="{11F3A2BA-6581-AEBB-B21A-5391B2226134}"/>
              </a:ext>
            </a:extLst>
          </p:cNvPr>
          <p:cNvSpPr txBox="1"/>
          <p:nvPr/>
        </p:nvSpPr>
        <p:spPr>
          <a:xfrm>
            <a:off x="27889200" y="10190440"/>
            <a:ext cx="14676120" cy="9879628"/>
          </a:xfrm>
          <a:prstGeom prst="rect">
            <a:avLst/>
          </a:prstGeom>
          <a:noFill/>
          <a:ln>
            <a:noFill/>
          </a:ln>
        </p:spPr>
        <p:txBody>
          <a:bodyPr wrap="square" rtlCol="0">
            <a:spAutoFit/>
          </a:bodyPr>
          <a:lstStyle/>
          <a:p>
            <a:pPr algn="just"/>
            <a:r>
              <a:rPr lang="en-US" sz="6000" b="1" dirty="0">
                <a:solidFill>
                  <a:srgbClr val="D30000"/>
                </a:solidFill>
                <a:latin typeface="Times New Roman" panose="02020603050405020304" pitchFamily="18" charset="0"/>
                <a:cs typeface="Times New Roman" panose="02020603050405020304" pitchFamily="18" charset="0"/>
              </a:rPr>
              <a:t>Conclusion:</a:t>
            </a:r>
          </a:p>
          <a:p>
            <a:pPr algn="just"/>
            <a:r>
              <a:rPr lang="en-US" sz="4800" dirty="0">
                <a:latin typeface="Times New Roman" panose="02020603050405020304" pitchFamily="18" charset="0"/>
                <a:cs typeface="Times New Roman" panose="02020603050405020304" pitchFamily="18" charset="0"/>
              </a:rPr>
              <a:t>To conclude, predicting early hospital readmission for heart patient is crucial for improving patient outcomes and optimizing resources in healthcare. Our key findings indicate that feature selection techniques like Recursive Feature Elimination (RFE), and handling class imbalance with SMOTE supports the model to perform well. By leveraging advanced ML techniques like </a:t>
            </a:r>
            <a:r>
              <a:rPr lang="en-US" sz="4800" dirty="0" err="1">
                <a:latin typeface="Times New Roman" panose="02020603050405020304" pitchFamily="18" charset="0"/>
                <a:cs typeface="Times New Roman" panose="02020603050405020304" pitchFamily="18" charset="0"/>
              </a:rPr>
              <a:t>XGBoost</a:t>
            </a:r>
            <a:r>
              <a:rPr lang="en-US" sz="4800" dirty="0">
                <a:latin typeface="Times New Roman" panose="02020603050405020304" pitchFamily="18" charset="0"/>
                <a:cs typeface="Times New Roman" panose="02020603050405020304" pitchFamily="18" charset="0"/>
              </a:rPr>
              <a:t> can improve the accuracy of readmission prediction. Moving forward, implementation of deep learning architecture like CNN and LSTM can offer greater power, efficient training and plays a crucial role in improving the quality of life of heart patients.</a:t>
            </a:r>
          </a:p>
        </p:txBody>
      </p:sp>
      <p:sp>
        <p:nvSpPr>
          <p:cNvPr id="2" name="TextBox 1">
            <a:extLst>
              <a:ext uri="{FF2B5EF4-FFF2-40B4-BE49-F238E27FC236}">
                <a16:creationId xmlns:a16="http://schemas.microsoft.com/office/drawing/2014/main" id="{C56FBB1C-DA5B-DC65-468E-DDFD392A73EF}"/>
              </a:ext>
            </a:extLst>
          </p:cNvPr>
          <p:cNvSpPr txBox="1"/>
          <p:nvPr/>
        </p:nvSpPr>
        <p:spPr>
          <a:xfrm>
            <a:off x="27870150" y="4648200"/>
            <a:ext cx="14676120" cy="5447645"/>
          </a:xfrm>
          <a:prstGeom prst="rect">
            <a:avLst/>
          </a:prstGeom>
          <a:noFill/>
          <a:ln>
            <a:noFill/>
          </a:ln>
        </p:spPr>
        <p:txBody>
          <a:bodyPr wrap="square" rtlCol="0">
            <a:spAutoFit/>
          </a:bodyPr>
          <a:lstStyle/>
          <a:p>
            <a:pPr algn="just"/>
            <a:r>
              <a:rPr lang="en-US" sz="6000" b="1" dirty="0">
                <a:solidFill>
                  <a:srgbClr val="D30000"/>
                </a:solidFill>
                <a:latin typeface="Times New Roman" panose="02020603050405020304" pitchFamily="18" charset="0"/>
                <a:cs typeface="Times New Roman" panose="02020603050405020304" pitchFamily="18" charset="0"/>
              </a:rPr>
              <a:t>Limitations:</a:t>
            </a:r>
          </a:p>
          <a:p>
            <a:pPr algn="just"/>
            <a:r>
              <a:rPr lang="en-US" sz="4800" dirty="0">
                <a:latin typeface="Times New Roman" panose="02020603050405020304" pitchFamily="18" charset="0"/>
                <a:cs typeface="Times New Roman" panose="02020603050405020304" pitchFamily="18" charset="0"/>
              </a:rPr>
              <a:t>There is a possibility of Advanced ML &amp; DL models like </a:t>
            </a:r>
            <a:r>
              <a:rPr lang="en-US" sz="4800" dirty="0" err="1">
                <a:latin typeface="Times New Roman" panose="02020603050405020304" pitchFamily="18" charset="0"/>
                <a:cs typeface="Times New Roman" panose="02020603050405020304" pitchFamily="18" charset="0"/>
              </a:rPr>
              <a:t>XGBoost</a:t>
            </a:r>
            <a:r>
              <a:rPr lang="en-US" sz="4800" dirty="0">
                <a:latin typeface="Times New Roman" panose="02020603050405020304" pitchFamily="18" charset="0"/>
                <a:cs typeface="Times New Roman" panose="02020603050405020304" pitchFamily="18" charset="0"/>
              </a:rPr>
              <a:t> and LSTM acting as black boxes. This raise difficulty for the healthcare professionals to interpret the results and make decisions from them. Also, as our model is being trained on a specific dataset, it’s generalizability to different hospitals, regions and patients is uncertain.</a:t>
            </a:r>
          </a:p>
        </p:txBody>
      </p:sp>
      <p:pic>
        <p:nvPicPr>
          <p:cNvPr id="5" name="Main graphic">
            <a:extLst>
              <a:ext uri="{FF2B5EF4-FFF2-40B4-BE49-F238E27FC236}">
                <a16:creationId xmlns:a16="http://schemas.microsoft.com/office/drawing/2014/main" id="{25FD874B-5B4E-F71A-FD5C-A210BCECD3DC}"/>
              </a:ext>
            </a:extLst>
          </p:cNvPr>
          <p:cNvPicPr/>
          <p:nvPr/>
        </p:nvPicPr>
        <p:blipFill>
          <a:blip r:embed="rId4"/>
          <a:srcRect r="50000"/>
          <a:stretch/>
        </p:blipFill>
        <p:spPr>
          <a:xfrm>
            <a:off x="15365730" y="6937891"/>
            <a:ext cx="11811000" cy="8153400"/>
          </a:xfrm>
          <a:prstGeom prst="rect">
            <a:avLst/>
          </a:prstGeom>
          <a:ln>
            <a:noFill/>
          </a:ln>
          <a:effectLst>
            <a:softEdge rad="112500"/>
          </a:effectLst>
        </p:spPr>
      </p:pic>
      <p:pic>
        <p:nvPicPr>
          <p:cNvPr id="9" name="Main graphic">
            <a:extLst>
              <a:ext uri="{FF2B5EF4-FFF2-40B4-BE49-F238E27FC236}">
                <a16:creationId xmlns:a16="http://schemas.microsoft.com/office/drawing/2014/main" id="{87405675-1B1C-762B-97FE-BD687DDE28E6}"/>
              </a:ext>
            </a:extLst>
          </p:cNvPr>
          <p:cNvPicPr/>
          <p:nvPr/>
        </p:nvPicPr>
        <p:blipFill>
          <a:blip r:embed="rId4"/>
          <a:srcRect l="50000"/>
          <a:stretch/>
        </p:blipFill>
        <p:spPr>
          <a:xfrm>
            <a:off x="15365730" y="15278101"/>
            <a:ext cx="11811001" cy="8153400"/>
          </a:xfrm>
          <a:prstGeom prst="rect">
            <a:avLst/>
          </a:prstGeom>
          <a:ln>
            <a:noFill/>
          </a:ln>
        </p:spPr>
      </p:pic>
      <p:sp>
        <p:nvSpPr>
          <p:cNvPr id="12" name="TextBox 11">
            <a:extLst>
              <a:ext uri="{FF2B5EF4-FFF2-40B4-BE49-F238E27FC236}">
                <a16:creationId xmlns:a16="http://schemas.microsoft.com/office/drawing/2014/main" id="{60466695-E450-BFD2-6083-D1B9B58D07A5}"/>
              </a:ext>
            </a:extLst>
          </p:cNvPr>
          <p:cNvSpPr txBox="1"/>
          <p:nvPr/>
        </p:nvSpPr>
        <p:spPr>
          <a:xfrm>
            <a:off x="15859094" y="4997827"/>
            <a:ext cx="7776231" cy="1569660"/>
          </a:xfrm>
          <a:prstGeom prst="rect">
            <a:avLst/>
          </a:prstGeom>
          <a:noFill/>
        </p:spPr>
        <p:txBody>
          <a:bodyPr wrap="none" rtlCol="0">
            <a:spAutoFit/>
          </a:bodyPr>
          <a:lstStyle/>
          <a:p>
            <a:pPr algn="ctr"/>
            <a:r>
              <a:rPr lang="en-US" sz="4800" b="1" i="0" dirty="0">
                <a:solidFill>
                  <a:srgbClr val="505050"/>
                </a:solidFill>
                <a:effectLst/>
                <a:latin typeface="Times New Roman" panose="02020603050405020304" pitchFamily="18" charset="0"/>
                <a:cs typeface="Times New Roman" panose="02020603050405020304" pitchFamily="18" charset="0"/>
              </a:rPr>
              <a:t>Top 10 causes of readmission</a:t>
            </a:r>
          </a:p>
          <a:p>
            <a:pPr algn="ctr"/>
            <a:r>
              <a:rPr lang="en-US" sz="4800" b="1" i="0" dirty="0">
                <a:solidFill>
                  <a:srgbClr val="505050"/>
                </a:solidFill>
                <a:effectLst/>
                <a:latin typeface="Times New Roman" panose="02020603050405020304" pitchFamily="18" charset="0"/>
                <a:cs typeface="Times New Roman" panose="02020603050405020304" pitchFamily="18" charset="0"/>
              </a:rPr>
              <a:t> by time-period. </a:t>
            </a:r>
            <a:endParaRPr lang="en-US" sz="48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09"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09"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2559</TotalTime>
  <Words>699</Words>
  <Application>Microsoft Macintosh PowerPoint</Application>
  <PresentationFormat>Custom</PresentationFormat>
  <Paragraphs>20</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ＭＳ Ｐゴシック</vt:lpstr>
      <vt:lpstr>Arial</vt:lpstr>
      <vt:lpstr>Times New Roman</vt:lpstr>
      <vt:lpstr>Blank Presentation</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ResearchPstr_Grn-3_48x36</dc:title>
  <dc:subject>&amp;lt;p&amp;gt;Heading Lorem ipsum dolor sit amet, consectetuer adipiscing elit, sed diam nonummy nibh euismod tincidunt ut laoreet dolore magna aliquam erat volutpat.  Ut wisi enim ad minim veniam. Lorem ipsum dolor sit amet, consectetuer adipiscing elit, sed diam nonummy nibh euismod tincidunt ut laoreet dolore magna aliquam erat v&amp;lt;/p&amp;gt;</dc:subject>
  <dc:creator>Pamela Seymour</dc:creator>
  <cp:keywords/>
  <dc:description>&amp;lt;p&amp;gt;Heading Lorem ipsum dolor sit amet, consectetuer adipiscing elit, sed diam nonummy nibh euismod tincidunt ut laoreet dolore magna aliquam erat volutpat.  Ut wisi enim ad minim veniam. Lorem ipsum dolor sit amet, consectetuer adipiscing elit, sed diam nonummy nibh euismod tincidunt ut laoreet dolore magna aliquam erat v&amp;lt;/p&amp;gt;</dc:description>
  <cp:lastModifiedBy>Aitha, Sahith (aithash)</cp:lastModifiedBy>
  <cp:revision>90</cp:revision>
  <cp:lastPrinted>2017-08-02T15:32:03Z</cp:lastPrinted>
  <dcterms:created xsi:type="dcterms:W3CDTF">2009-08-20T20:50:05Z</dcterms:created>
  <dcterms:modified xsi:type="dcterms:W3CDTF">2025-02-07T23:10:41Z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EktContentLanguage">
    <vt:i4>1033</vt:i4>
  </property>
  <property fmtid="{D5CDD505-2E9C-101B-9397-08002B2CF9AE}" pid="3" name="EktQuickLink">
    <vt:lpwstr>DownloadAsset.aspx?id=24817</vt:lpwstr>
  </property>
  <property fmtid="{D5CDD505-2E9C-101B-9397-08002B2CF9AE}" pid="4" name="EktContentType">
    <vt:i4>101</vt:i4>
  </property>
  <property fmtid="{D5CDD505-2E9C-101B-9397-08002B2CF9AE}" pid="5" name="EktContentSubType">
    <vt:i4>0</vt:i4>
  </property>
  <property fmtid="{D5CDD505-2E9C-101B-9397-08002B2CF9AE}" pid="6" name="EktFolderName">
    <vt:lpwstr/>
  </property>
  <property fmtid="{D5CDD505-2E9C-101B-9397-08002B2CF9AE}" pid="7" name="EktCmsPath">
    <vt:lpwstr>&amp;lt;p&amp;gt;Heading Lorem ipsum dolor sit amet, consectetuer adipiscing elit, sed diam nonummy nibh euismod tincidunt ut laoreet dolore magna aliquam erat volutpat.  Ut wisi enim ad minim veniam. Lorem ipsum dolor sit amet, consectetuer adipiscing elit, sed </vt:lpwstr>
  </property>
  <property fmtid="{D5CDD505-2E9C-101B-9397-08002B2CF9AE}" pid="8" name="EktExpiryType">
    <vt:i4>1</vt:i4>
  </property>
  <property fmtid="{D5CDD505-2E9C-101B-9397-08002B2CF9AE}" pid="9" name="EktDateCreated">
    <vt:filetime>2012-01-03T16:56:00Z</vt:filetime>
  </property>
  <property fmtid="{D5CDD505-2E9C-101B-9397-08002B2CF9AE}" pid="10" name="EktDateModified">
    <vt:filetime>2012-01-03T16:56:00Z</vt:filetime>
  </property>
  <property fmtid="{D5CDD505-2E9C-101B-9397-08002B2CF9AE}" pid="11" name="EktTaxCategory">
    <vt:lpwstr/>
  </property>
  <property fmtid="{D5CDD505-2E9C-101B-9397-08002B2CF9AE}" pid="12" name="EktCmsSize">
    <vt:i4>150528</vt:i4>
  </property>
  <property fmtid="{D5CDD505-2E9C-101B-9397-08002B2CF9AE}" pid="13" name="EktSearchable">
    <vt:i4>1</vt:i4>
  </property>
  <property fmtid="{D5CDD505-2E9C-101B-9397-08002B2CF9AE}" pid="14" name="EktEDescription">
    <vt:lpwstr>Summary &amp;lt;p&amp;gt;Heading Lorem ipsum dolor sit amet, consectetuer adipiscing elit, sed diam nonummy nibh euismod tincidunt ut laoreet dolore magna aliquam erat volutpat.  Ut wisi enim ad minim veniam. Lorem ipsum dolor sit amet, consectetuer adipiscing el</vt:lpwstr>
  </property>
</Properties>
</file>